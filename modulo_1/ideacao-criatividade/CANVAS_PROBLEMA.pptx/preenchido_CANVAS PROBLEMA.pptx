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7104050" cy="10234600"/>
  <p:embeddedFontLst>
    <p:embeddedFont>
      <p:font typeface="Arimo"/>
      <p:bold r:id="rId9"/>
      <p:boldItalic r:id="rId10"/>
    </p:embeddedFont>
    <p:embeddedFont>
      <p:font typeface="Open Sans"/>
      <p:bold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49sAZuDuBKUq2up21h1JgK7LN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Arimo-boldItalic.fntdata"/><Relationship Id="rId13" Type="http://customschemas.google.com/relationships/presentationmetadata" Target="metadata"/><Relationship Id="rId12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4225" y="767575"/>
            <a:ext cx="473625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400" y="4861425"/>
            <a:ext cx="56832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10400" y="4861425"/>
            <a:ext cx="56832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84225" y="767575"/>
            <a:ext cx="473625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710400" y="4861425"/>
            <a:ext cx="56832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84225" y="767575"/>
            <a:ext cx="473625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710400" y="4861425"/>
            <a:ext cx="56832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84225" y="767575"/>
            <a:ext cx="473625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4359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632044" y="884039"/>
            <a:ext cx="17023913" cy="2229119"/>
            <a:chOff x="0" y="-38100"/>
            <a:chExt cx="4483664" cy="587093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4483664" cy="548993"/>
            </a:xfrm>
            <a:custGeom>
              <a:rect b="b" l="l" r="r" t="t"/>
              <a:pathLst>
                <a:path extrusionOk="0" h="548993" w="4483664">
                  <a:moveTo>
                    <a:pt x="0" y="0"/>
                  </a:moveTo>
                  <a:lnTo>
                    <a:pt x="4483664" y="0"/>
                  </a:lnTo>
                  <a:lnTo>
                    <a:pt x="4483664" y="548993"/>
                  </a:lnTo>
                  <a:lnTo>
                    <a:pt x="0" y="548993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4483664" cy="58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632044" y="2968497"/>
            <a:ext cx="5901526" cy="6939543"/>
            <a:chOff x="0" y="-38100"/>
            <a:chExt cx="1554311" cy="182769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554311" cy="1789599"/>
            </a:xfrm>
            <a:custGeom>
              <a:rect b="b" l="l" r="r" t="t"/>
              <a:pathLst>
                <a:path extrusionOk="0" h="1789599" w="1554311">
                  <a:moveTo>
                    <a:pt x="0" y="0"/>
                  </a:moveTo>
                  <a:lnTo>
                    <a:pt x="1554311" y="0"/>
                  </a:lnTo>
                  <a:lnTo>
                    <a:pt x="1554311" y="1789599"/>
                  </a:lnTo>
                  <a:lnTo>
                    <a:pt x="0" y="1789599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1554311" cy="1827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6533575" y="2968499"/>
            <a:ext cx="5609353" cy="6939590"/>
            <a:chOff x="0" y="-38100"/>
            <a:chExt cx="1554311" cy="1827699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554311" cy="1789599"/>
            </a:xfrm>
            <a:custGeom>
              <a:rect b="b" l="l" r="r" t="t"/>
              <a:pathLst>
                <a:path extrusionOk="0" h="1789599" w="1554311">
                  <a:moveTo>
                    <a:pt x="0" y="0"/>
                  </a:moveTo>
                  <a:lnTo>
                    <a:pt x="1554311" y="0"/>
                  </a:lnTo>
                  <a:lnTo>
                    <a:pt x="1554311" y="1789599"/>
                  </a:lnTo>
                  <a:lnTo>
                    <a:pt x="0" y="1789599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1554311" cy="1827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2142832" y="2968496"/>
            <a:ext cx="5513160" cy="6939590"/>
            <a:chOff x="0" y="-38100"/>
            <a:chExt cx="1452016" cy="1827699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452016" cy="1789599"/>
            </a:xfrm>
            <a:custGeom>
              <a:rect b="b" l="l" r="r" t="t"/>
              <a:pathLst>
                <a:path extrusionOk="0" h="1789599" w="1452016">
                  <a:moveTo>
                    <a:pt x="0" y="0"/>
                  </a:moveTo>
                  <a:lnTo>
                    <a:pt x="1452016" y="0"/>
                  </a:lnTo>
                  <a:lnTo>
                    <a:pt x="1452016" y="1789599"/>
                  </a:lnTo>
                  <a:lnTo>
                    <a:pt x="0" y="1789599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1452016" cy="1827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11061278" y="185555"/>
            <a:ext cx="656647" cy="636127"/>
          </a:xfrm>
          <a:custGeom>
            <a:rect b="b" l="l" r="r" t="t"/>
            <a:pathLst>
              <a:path extrusionOk="0" h="636127" w="656647">
                <a:moveTo>
                  <a:pt x="0" y="0"/>
                </a:moveTo>
                <a:lnTo>
                  <a:pt x="656648" y="0"/>
                </a:lnTo>
                <a:lnTo>
                  <a:pt x="656648" y="636128"/>
                </a:lnTo>
                <a:lnTo>
                  <a:pt x="0" y="636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1078675" y="8305878"/>
            <a:ext cx="335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PROBLEMA/DES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812129" y="1368547"/>
            <a:ext cx="6366421" cy="42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10" u="none" cap="none" strike="noStrike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rPr>
              <a:t>PROBLEMA A SER SOLUCIONADO: 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565600" y="3246650"/>
            <a:ext cx="5901600" cy="73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5" u="none" cap="none" strike="noStrike">
                <a:solidFill>
                  <a:srgbClr val="366092"/>
                </a:solidFill>
                <a:latin typeface="Open Sans"/>
                <a:ea typeface="Open Sans"/>
                <a:cs typeface="Open Sans"/>
                <a:sym typeface="Open Sans"/>
              </a:rPr>
              <a:t>QUAIS DADOS RETRATAM A </a:t>
            </a:r>
            <a:r>
              <a:rPr b="1" lang="en-US" sz="1485">
                <a:solidFill>
                  <a:srgbClr val="366092"/>
                </a:solidFill>
                <a:latin typeface="Open Sans"/>
                <a:ea typeface="Open Sans"/>
                <a:cs typeface="Open Sans"/>
                <a:sym typeface="Open Sans"/>
              </a:rPr>
              <a:t>RELEVÂNCIA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5" u="none" cap="none" strike="noStrike">
                <a:solidFill>
                  <a:srgbClr val="366092"/>
                </a:solidFill>
                <a:latin typeface="Open Sans"/>
                <a:ea typeface="Open Sans"/>
                <a:cs typeface="Open Sans"/>
                <a:sym typeface="Open Sans"/>
              </a:rPr>
              <a:t> DESSE PROBLEMA?</a:t>
            </a:r>
            <a:endParaRPr b="1" i="0" sz="1485" u="none" cap="none" strike="noStrike">
              <a:solidFill>
                <a:srgbClr val="36609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5">
                <a:solidFill>
                  <a:srgbClr val="366092"/>
                </a:solidFill>
                <a:latin typeface="Open Sans"/>
                <a:ea typeface="Open Sans"/>
                <a:cs typeface="Open Sans"/>
                <a:sym typeface="Open Sans"/>
              </a:rPr>
              <a:t>(descreva o problema a ser solucionado</a:t>
            </a:r>
            <a:endParaRPr b="1" sz="1285">
              <a:solidFill>
                <a:srgbClr val="36609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 Baixo reaproveitamento: </a:t>
            </a:r>
            <a:r>
              <a:rPr b="1" lang="en-US" sz="1900">
                <a:solidFill>
                  <a:schemeClr val="dk1"/>
                </a:solidFill>
              </a:rPr>
              <a:t>Menos de 4% dos resíduos sólidos reciclados no Brasil passam por processos eficientes de triagem automatizada, </a:t>
            </a:r>
            <a:r>
              <a:rPr b="1" lang="en-US" sz="1900">
                <a:solidFill>
                  <a:srgbClr val="FFFFFF"/>
                </a:solidFill>
                <a:highlight>
                  <a:srgbClr val="FF0000"/>
                </a:highlight>
              </a:rPr>
              <a:t>segundo dados do SNIS</a:t>
            </a:r>
            <a:r>
              <a:rPr b="1" lang="en-US" sz="1900">
                <a:solidFill>
                  <a:schemeClr val="dk1"/>
                </a:solidFill>
              </a:rPr>
              <a:t>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 Erros de separação: </a:t>
            </a:r>
            <a:r>
              <a:rPr b="1" lang="en-US" sz="1900">
                <a:solidFill>
                  <a:schemeClr val="dk1"/>
                </a:solidFill>
              </a:rPr>
              <a:t>A triagem manual apresenta uma taxa de contaminação de lotes de até 25%, reduzindo o valor de venda do material reciclado </a:t>
            </a:r>
            <a:r>
              <a:rPr b="1" lang="en-US" sz="1900">
                <a:solidFill>
                  <a:srgbClr val="FFFFFF"/>
                </a:solidFill>
                <a:highlight>
                  <a:srgbClr val="FF0000"/>
                </a:highlight>
              </a:rPr>
              <a:t>(SNIS)</a:t>
            </a:r>
            <a:r>
              <a:rPr b="1" lang="en-US" sz="1900">
                <a:solidFill>
                  <a:schemeClr val="dk1"/>
                </a:solidFill>
              </a:rPr>
              <a:t>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 Saúde do trabalhador:</a:t>
            </a:r>
            <a:r>
              <a:rPr b="1" lang="en-US" sz="1900">
                <a:solidFill>
                  <a:schemeClr val="dk1"/>
                </a:solidFill>
              </a:rPr>
              <a:t> Cerca de 30% dos trabalhadores de triagem manual relatam lesões por esforços repetitivos (LER/DORT) ou acidentes com materiais perfurocortantes </a:t>
            </a:r>
            <a:r>
              <a:rPr b="1" lang="en-US" sz="1900">
                <a:solidFill>
                  <a:srgbClr val="FFFFFF"/>
                </a:solidFill>
                <a:highlight>
                  <a:srgbClr val="FF0000"/>
                </a:highlight>
              </a:rPr>
              <a:t>(SNIS)</a:t>
            </a:r>
            <a:r>
              <a:rPr b="1" lang="en-US" sz="1900">
                <a:solidFill>
                  <a:schemeClr val="dk1"/>
                </a:solidFill>
              </a:rPr>
              <a:t>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 Gargalo produtivo:</a:t>
            </a:r>
            <a:r>
              <a:rPr b="1" lang="en-US" sz="1900">
                <a:solidFill>
                  <a:schemeClr val="dk1"/>
                </a:solidFill>
              </a:rPr>
              <a:t> O tempo médio de triagem manual limita a capacidade de processamento das plantas de reciclagem de pequeno porte a apenas 15 kg/hora por operador </a:t>
            </a:r>
            <a:r>
              <a:rPr b="1" lang="en-US" sz="1900">
                <a:solidFill>
                  <a:srgbClr val="FFFFFF"/>
                </a:solidFill>
                <a:highlight>
                  <a:srgbClr val="FF0000"/>
                </a:highlight>
              </a:rPr>
              <a:t>(SNIS)</a:t>
            </a:r>
            <a:r>
              <a:rPr b="1" lang="en-US" sz="1900">
                <a:solidFill>
                  <a:schemeClr val="dk1"/>
                </a:solidFill>
              </a:rPr>
              <a:t>.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highlight>
                  <a:srgbClr val="FF0000"/>
                </a:highlight>
              </a:rPr>
              <a:t>FONTES!!</a:t>
            </a:r>
            <a:endParaRPr b="1" sz="2400">
              <a:solidFill>
                <a:srgbClr val="FFFFFF"/>
              </a:solidFill>
              <a:highlight>
                <a:srgbClr val="FF0000"/>
              </a:highlight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85">
              <a:solidFill>
                <a:srgbClr val="36609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533575" y="3438000"/>
            <a:ext cx="5184300" cy="6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5" u="none" cap="none" strike="noStrike">
                <a:solidFill>
                  <a:srgbClr val="953734"/>
                </a:solidFill>
                <a:latin typeface="Open Sans"/>
                <a:ea typeface="Open Sans"/>
                <a:cs typeface="Open Sans"/>
                <a:sym typeface="Open Sans"/>
              </a:rPr>
              <a:t>QUAL OU QUAIS CAUSAS </a:t>
            </a:r>
            <a:r>
              <a:rPr b="1" lang="en-US" sz="1485">
                <a:solidFill>
                  <a:srgbClr val="953734"/>
                </a:solidFill>
                <a:latin typeface="Open Sans"/>
                <a:ea typeface="Open Sans"/>
                <a:cs typeface="Open Sans"/>
                <a:sym typeface="Open Sans"/>
              </a:rPr>
              <a:t>RAÍZES</a:t>
            </a:r>
            <a:r>
              <a:rPr b="1" i="0" lang="en-US" sz="1485" u="none" cap="none" strike="noStrike">
                <a:solidFill>
                  <a:srgbClr val="953734"/>
                </a:solidFill>
                <a:latin typeface="Open Sans"/>
                <a:ea typeface="Open Sans"/>
                <a:cs typeface="Open Sans"/>
                <a:sym typeface="Open Sans"/>
              </a:rPr>
              <a:t> DESSE PROBLEMA?</a:t>
            </a:r>
            <a:endParaRPr b="1" i="0" sz="1485" u="none" cap="none" strike="noStrike">
              <a:solidFill>
                <a:srgbClr val="9537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5">
                <a:solidFill>
                  <a:srgbClr val="953734"/>
                </a:solidFill>
                <a:latin typeface="Open Sans"/>
                <a:ea typeface="Open Sans"/>
                <a:cs typeface="Open Sans"/>
                <a:sym typeface="Open Sans"/>
              </a:rPr>
              <a:t>(identifique a causa do problema - pq esse problema ocorre?)</a:t>
            </a:r>
            <a:endParaRPr b="1" sz="1485">
              <a:solidFill>
                <a:srgbClr val="9537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85">
              <a:solidFill>
                <a:srgbClr val="9537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Alto custo da automação comercial: </a:t>
            </a:r>
            <a:r>
              <a:rPr b="1" lang="en-US" sz="1900">
                <a:solidFill>
                  <a:schemeClr val="dk1"/>
                </a:solidFill>
              </a:rPr>
              <a:t>As soluções industriais existentes no mercado possuem custo elevado, sendo inviáveis para pequenas empresas e cooperativas.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 Dependência da triagem visual humana: </a:t>
            </a:r>
            <a:r>
              <a:rPr b="1" lang="en-US" sz="1900">
                <a:solidFill>
                  <a:schemeClr val="dk1"/>
                </a:solidFill>
              </a:rPr>
              <a:t>Ausência de sensores de baixo custo capazes de detectar automaticamente as propriedades físicas dos materiais (ex: condutividade, opacidade, densidade).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 </a:t>
            </a:r>
            <a:r>
              <a:rPr b="1" lang="en-US" sz="1900">
                <a:solidFill>
                  <a:schemeClr val="dk1"/>
                </a:solidFill>
                <a:highlight>
                  <a:srgbClr val="FFFF00"/>
                </a:highlight>
              </a:rPr>
              <a:t>Falta de integração entre etapas:</a:t>
            </a:r>
            <a:r>
              <a:rPr b="1" lang="en-US" sz="1900">
                <a:solidFill>
                  <a:schemeClr val="dk1"/>
                </a:solidFill>
              </a:rPr>
              <a:t> Linhas de transporte operam de forma desconectada dos sistemas de tomada de decisão e atuação física.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85">
              <a:solidFill>
                <a:srgbClr val="9537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2142925" y="3126350"/>
            <a:ext cx="5513100" cy="6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5" u="none" cap="none" strike="noStrike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rPr>
              <a:t>QUAL CONTEXTO E OU ÁREA ESSE PROBLEMA AFETA OU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5" u="none" cap="none" strike="noStrike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rPr>
              <a:t> ESTÁ INSERIDO?</a:t>
            </a:r>
            <a:endParaRPr b="1" i="0" sz="1485" u="none" cap="none" strike="noStrike">
              <a:solidFill>
                <a:srgbClr val="4F612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5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rPr>
              <a:t>(identifique o campo de estudo em que o </a:t>
            </a:r>
            <a:r>
              <a:rPr b="1" lang="en-US" sz="1485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rPr>
              <a:t>problema</a:t>
            </a:r>
            <a:r>
              <a:rPr b="1" lang="en-US" sz="1485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rPr>
              <a:t> está inserido)</a:t>
            </a:r>
            <a:endParaRPr b="1" sz="1485">
              <a:solidFill>
                <a:srgbClr val="4F612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85">
              <a:solidFill>
                <a:srgbClr val="4F612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  <a:highlight>
                  <a:srgbClr val="FFFF00"/>
                </a:highlight>
              </a:rPr>
              <a:t>Área Técnica: </a:t>
            </a:r>
            <a:r>
              <a:rPr b="1" lang="en-US" sz="2000">
                <a:solidFill>
                  <a:schemeClr val="dk1"/>
                </a:solidFill>
              </a:rPr>
              <a:t>Mecatrônica Industrial, Automação de Processos, Eletropneumática e Microcontroladores.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FFFF00"/>
                </a:highlight>
              </a:rPr>
              <a:t>Setores Afetados:</a:t>
            </a:r>
            <a:r>
              <a:rPr b="1" lang="en-US" sz="2000">
                <a:solidFill>
                  <a:schemeClr val="dk1"/>
                </a:solidFill>
              </a:rPr>
              <a:t> Indústria de Reciclagem, Logística Reversa, Gestão Ambiental e Manufatura Reversa.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FFFF00"/>
                </a:highlight>
              </a:rPr>
              <a:t>Socioambiental: </a:t>
            </a:r>
            <a:r>
              <a:rPr b="1" lang="en-US" sz="2000">
                <a:solidFill>
                  <a:schemeClr val="dk1"/>
                </a:solidFill>
              </a:rPr>
              <a:t>Acúmulo de resíduos em aterros por falta de triagem rápida e exposição contínua de pessoas a ambientes insalubres.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 *</a:t>
            </a:r>
            <a:endParaRPr b="1" sz="1485">
              <a:solidFill>
                <a:srgbClr val="4F61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226722" y="374008"/>
            <a:ext cx="383455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10" u="none" cap="none" strike="noStrike">
                <a:solidFill>
                  <a:srgbClr val="CDD882"/>
                </a:solidFill>
                <a:latin typeface="Arimo"/>
                <a:ea typeface="Arimo"/>
                <a:cs typeface="Arimo"/>
                <a:sym typeface="Arimo"/>
              </a:rPr>
              <a:t>CANVAS PROBLEMA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74359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632044" y="1103129"/>
            <a:ext cx="11700457" cy="8547526"/>
            <a:chOff x="0" y="-38096"/>
            <a:chExt cx="3081602" cy="22512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3081557" cy="1693641"/>
            </a:xfrm>
            <a:custGeom>
              <a:rect b="b" l="l" r="r" t="t"/>
              <a:pathLst>
                <a:path extrusionOk="0" h="1693641" w="3081557">
                  <a:moveTo>
                    <a:pt x="0" y="0"/>
                  </a:moveTo>
                  <a:lnTo>
                    <a:pt x="3081557" y="0"/>
                  </a:lnTo>
                  <a:lnTo>
                    <a:pt x="3081557" y="1693641"/>
                  </a:lnTo>
                  <a:lnTo>
                    <a:pt x="0" y="1693641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2" y="-38096"/>
              <a:ext cx="3081600" cy="22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dk1"/>
                  </a:solidFill>
                  <a:highlight>
                    <a:srgbClr val="FFFF00"/>
                  </a:highlight>
                </a:rPr>
                <a:t> </a:t>
              </a:r>
              <a:r>
                <a:rPr b="1" lang="en-US" sz="2200">
                  <a:solidFill>
                    <a:schemeClr val="dk1"/>
                  </a:solidFill>
                  <a:highlight>
                    <a:srgbClr val="FFFF00"/>
                  </a:highlight>
                </a:rPr>
                <a:t>Uso de Sensores Industriais: </a:t>
              </a:r>
              <a:r>
                <a:rPr b="1" lang="en-US" sz="2200">
                  <a:solidFill>
                    <a:schemeClr val="dk1"/>
                  </a:solidFill>
                </a:rPr>
                <a:t>Estudos da área de Automação indicam que a combinação de sensores indutivos (para detecção de metais) e sensores ópticos (para contagem e presença) atinge eficiência superior a 95% na classificação de materiais em movimento. (REFERÊNCIA BIBLIOGRÁFICA)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2200">
                  <a:solidFill>
                    <a:schemeClr val="dk1"/>
                  </a:solidFill>
                </a:rPr>
                <a:t> 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200">
                  <a:solidFill>
                    <a:schemeClr val="dk1"/>
                  </a:solidFill>
                  <a:highlight>
                    <a:srgbClr val="FFFF00"/>
                  </a:highlight>
                </a:rPr>
                <a:t>Arquitetura Embarcada de Baixo Custo:</a:t>
              </a:r>
              <a:r>
                <a:rPr b="1" lang="en-US" sz="2200">
                  <a:solidFill>
                    <a:schemeClr val="dk1"/>
                  </a:solidFill>
                </a:rPr>
                <a:t> A utilização de microcontroladores (como Arduino ou ESP32) ou CLPs didáticos reduz em até 80% o custo de prototipagem em comparação com painéis industriais tradicionais. (REFERÊNCIA BIBLIOGRÁFICA)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2200">
                  <a:solidFill>
                    <a:schemeClr val="dk1"/>
                  </a:solidFill>
                </a:rPr>
                <a:t> 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200">
                  <a:solidFill>
                    <a:schemeClr val="dk1"/>
                  </a:solidFill>
                  <a:highlight>
                    <a:srgbClr val="FFFF00"/>
                  </a:highlight>
                </a:rPr>
                <a:t>Atuação Eletropneumática: </a:t>
              </a:r>
              <a:r>
                <a:rPr b="1" lang="en-US" sz="2200">
                  <a:solidFill>
                    <a:schemeClr val="dk1"/>
                  </a:solidFill>
                </a:rPr>
                <a:t>A literatura de Mecânica Técnica aponta os cilindros pneumáticos de duplo efeito como a solução ideal para desvio rápido de objetos em esteiras transportadoras devido ao seu baixo tempo de resposta.(REFERÊNCIA BIBLIOGRÁFICA)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sz="1485">
                <a:solidFill>
                  <a:srgbClr val="4F612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2355850" y="1291195"/>
            <a:ext cx="5324013" cy="8359981"/>
            <a:chOff x="0" y="0"/>
            <a:chExt cx="1402200" cy="1693641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02107" cy="1693641"/>
            </a:xfrm>
            <a:custGeom>
              <a:rect b="b" l="l" r="r" t="t"/>
              <a:pathLst>
                <a:path extrusionOk="0" h="1693641" w="1402107">
                  <a:moveTo>
                    <a:pt x="0" y="0"/>
                  </a:moveTo>
                  <a:lnTo>
                    <a:pt x="1402107" y="0"/>
                  </a:lnTo>
                  <a:lnTo>
                    <a:pt x="1402107" y="1693641"/>
                  </a:lnTo>
                  <a:lnTo>
                    <a:pt x="0" y="1693641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260703"/>
              <a:ext cx="1402200" cy="14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3810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Char char="●"/>
              </a:pPr>
              <a:r>
                <a:rPr b="1" lang="en-US" sz="2400">
                  <a:solidFill>
                    <a:schemeClr val="dk1"/>
                  </a:solidFill>
                  <a:highlight>
                    <a:srgbClr val="FFFF00"/>
                  </a:highlight>
                </a:rPr>
                <a:t>Viabilidade:</a:t>
              </a:r>
              <a:r>
                <a:rPr b="1" lang="en-US" sz="2400">
                  <a:solidFill>
                    <a:schemeClr val="dk1"/>
                  </a:solidFill>
                </a:rPr>
                <a:t> É viável resolver o problema criando um sistema compacto de esteira seletora integrando sensores, lógica de programação e acionamento eletropneumático.</a:t>
              </a:r>
              <a:endParaRPr b="1" sz="2400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dk1"/>
                </a:solidFill>
              </a:endParaRPr>
            </a:p>
            <a:p>
              <a:pPr indent="-3810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Char char="●"/>
              </a:pPr>
              <a:r>
                <a:rPr b="1" lang="en-US" sz="2400">
                  <a:solidFill>
                    <a:schemeClr val="dk1"/>
                  </a:solidFill>
                </a:rPr>
                <a:t> </a:t>
              </a:r>
              <a:r>
                <a:rPr b="1" lang="en-US" sz="2400">
                  <a:solidFill>
                    <a:schemeClr val="dk1"/>
                  </a:solidFill>
                  <a:highlight>
                    <a:srgbClr val="FFFF00"/>
                  </a:highlight>
                </a:rPr>
                <a:t>Ganha-Ganha:</a:t>
              </a:r>
              <a:r>
                <a:rPr b="1" lang="en-US" sz="2400">
                  <a:solidFill>
                    <a:schemeClr val="dk1"/>
                  </a:solidFill>
                </a:rPr>
                <a:t> A automação melhora a segurança do trabalhador e aumenta drasticamente a velocidade e a pureza do material reciclado.</a:t>
              </a:r>
              <a:endParaRPr b="1" sz="2400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  <a:p>
              <a:pPr indent="0" lvl="0" marL="45720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2"/>
          <p:cNvSpPr txBox="1"/>
          <p:nvPr/>
        </p:nvSpPr>
        <p:spPr>
          <a:xfrm>
            <a:off x="1484925" y="1823706"/>
            <a:ext cx="6506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5" u="none" cap="none" strike="noStrike">
                <a:solidFill>
                  <a:srgbClr val="7F6000"/>
                </a:solidFill>
                <a:latin typeface="Open Sans"/>
                <a:ea typeface="Open Sans"/>
                <a:cs typeface="Open Sans"/>
                <a:sym typeface="Open Sans"/>
              </a:rPr>
              <a:t>O QUE A BIBLIOGRAFIA RETRATA SOBRE ESSE TEMA?</a:t>
            </a:r>
            <a:r>
              <a:rPr b="1" i="0" lang="en-US" sz="1985" u="none" cap="none" strike="noStrike">
                <a:solidFill>
                  <a:srgbClr val="0F2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2844220" y="1393206"/>
            <a:ext cx="4347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5" u="none" cap="none" strike="noStrike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CONCLUSÕES SOBRE O PROBLEMA</a:t>
            </a:r>
            <a:r>
              <a:rPr b="1" i="0" lang="en-US" sz="1985" u="none" cap="none" strike="noStrike">
                <a:solidFill>
                  <a:srgbClr val="0F243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11061278" y="611648"/>
            <a:ext cx="656647" cy="636127"/>
          </a:xfrm>
          <a:custGeom>
            <a:rect b="b" l="l" r="r" t="t"/>
            <a:pathLst>
              <a:path extrusionOk="0" h="636127" w="656647">
                <a:moveTo>
                  <a:pt x="0" y="0"/>
                </a:moveTo>
                <a:lnTo>
                  <a:pt x="656648" y="0"/>
                </a:lnTo>
                <a:lnTo>
                  <a:pt x="656648" y="636127"/>
                </a:lnTo>
                <a:lnTo>
                  <a:pt x="0" y="636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 txBox="1"/>
          <p:nvPr/>
        </p:nvSpPr>
        <p:spPr>
          <a:xfrm>
            <a:off x="7226722" y="701111"/>
            <a:ext cx="383455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10" u="none" cap="none" strike="noStrike">
                <a:solidFill>
                  <a:srgbClr val="CDD882"/>
                </a:solidFill>
                <a:latin typeface="Arimo"/>
                <a:ea typeface="Arimo"/>
                <a:cs typeface="Arimo"/>
                <a:sym typeface="Arimo"/>
              </a:rPr>
              <a:t>CANVAS PROBLEMA 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3293325" y="1698600"/>
            <a:ext cx="3834600" cy="1005300"/>
          </a:xfrm>
          <a:prstGeom prst="rect">
            <a:avLst/>
          </a:prstGeom>
          <a:solidFill>
            <a:srgbClr val="CCC0D9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são as suas conclusões sobre o problema após a leitura dos textos? Cite pelo menos 2 conclusões.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0" y="-1943448"/>
            <a:ext cx="21107400" cy="1180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3"/>
          <p:cNvGrpSpPr/>
          <p:nvPr/>
        </p:nvGrpSpPr>
        <p:grpSpPr>
          <a:xfrm>
            <a:off x="632044" y="7644088"/>
            <a:ext cx="17023913" cy="1995212"/>
            <a:chOff x="0" y="-38100"/>
            <a:chExt cx="4483664" cy="587093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4483664" cy="548993"/>
            </a:xfrm>
            <a:custGeom>
              <a:rect b="b" l="l" r="r" t="t"/>
              <a:pathLst>
                <a:path extrusionOk="0" h="548993" w="4483664">
                  <a:moveTo>
                    <a:pt x="0" y="0"/>
                  </a:moveTo>
                  <a:lnTo>
                    <a:pt x="4483664" y="0"/>
                  </a:lnTo>
                  <a:lnTo>
                    <a:pt x="4483664" y="548993"/>
                  </a:lnTo>
                  <a:lnTo>
                    <a:pt x="0" y="548993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-38100"/>
              <a:ext cx="4483664" cy="58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"/>
          <p:cNvSpPr txBox="1"/>
          <p:nvPr/>
        </p:nvSpPr>
        <p:spPr>
          <a:xfrm>
            <a:off x="1028700" y="7923036"/>
            <a:ext cx="2853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10">
                <a:latin typeface="Arimo"/>
                <a:ea typeface="Arimo"/>
                <a:cs typeface="Arimo"/>
                <a:sym typeface="Arimo"/>
              </a:rPr>
              <a:t>EQUIPE</a:t>
            </a:r>
            <a:r>
              <a:rPr b="1" i="0" lang="en-US" sz="291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147925" y="1574700"/>
            <a:ext cx="5813100" cy="47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Descreva em 1 linha o problema que você irá solucionar.</a:t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highlight>
                  <a:schemeClr val="lt1"/>
                </a:highlight>
              </a:rPr>
              <a:t>Ineficiência, baixa taxa de precisão e riscos à saúde operacional no processo de triagem e separação manual de resíduos recicláveis em pequenas indústrias e cooperativas.</a:t>
            </a:r>
            <a:endParaRPr sz="2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682900" y="1398075"/>
            <a:ext cx="84768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Dê um nome para sua solução (1 linha)</a:t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highlight>
                  <a:srgbClr val="FFFFFF"/>
                </a:highlight>
              </a:rPr>
              <a:t>Esteira Seletora Automatizada por Sensores e Atuação Pneumática.</a:t>
            </a:r>
            <a:endParaRPr b="1" sz="2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682900" y="3280250"/>
            <a:ext cx="8476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Descreva como a sua solução funciona, como ela irá resolver o problema.</a:t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Detecção: O objeto avança pela esteira acionada por um motor CC/redutor. Um sensor óptico detecta a presença da peça.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Identificação: Um sensor indutivo analisa se o objeto contém propriedades metálicas.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Decisão e Controle: O microcontrolador/CLP processa as leituras em milissegundos e calcula o tempo de deslocamento do item.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Atuação: No momento exato em que a peça metálica passa pelo ponto de descarte, um pistão pneumático é acionado via válvula solenoide, empurrando a peça para o recipiente correto. Peças não metálicas seguem direto.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2CC"/>
                </a:highlight>
              </a:rPr>
              <a:t>Resultado: Elimina o contato humano com resíduos e garante triagem contínua com mais de 98% de precisão.</a:t>
            </a:r>
            <a:endParaRPr b="1"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Talita de Oliveira Costa Silva</dc:creator>
</cp:coreProperties>
</file>